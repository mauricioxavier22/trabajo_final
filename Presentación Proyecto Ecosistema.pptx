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4" r:id="rId7"/>
    <p:sldId id="263" r:id="rId8"/>
    <p:sldId id="262" r:id="rId9"/>
  </p:sldIdLst>
  <p:sldSz cx="12192000" cy="6858000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Inter SemiBold" panose="020B0604020202020204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Poppins SemiBold" panose="000007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0F3D4ACE-1227-77C1-BF94-AC5953799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>
            <a:extLst>
              <a:ext uri="{FF2B5EF4-FFF2-40B4-BE49-F238E27FC236}">
                <a16:creationId xmlns:a16="http://schemas.microsoft.com/office/drawing/2014/main" id="{C09312E1-74D6-6CD2-9251-F92DB76AC9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>
            <a:extLst>
              <a:ext uri="{FF2B5EF4-FFF2-40B4-BE49-F238E27FC236}">
                <a16:creationId xmlns:a16="http://schemas.microsoft.com/office/drawing/2014/main" id="{84BCD410-EDB6-7855-8B26-417C84EACF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7998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7331BF6E-7E32-2188-377E-10A10681D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>
            <a:extLst>
              <a:ext uri="{FF2B5EF4-FFF2-40B4-BE49-F238E27FC236}">
                <a16:creationId xmlns:a16="http://schemas.microsoft.com/office/drawing/2014/main" id="{05B4C056-1961-C45D-70AE-2DC77E4D7E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>
            <a:extLst>
              <a:ext uri="{FF2B5EF4-FFF2-40B4-BE49-F238E27FC236}">
                <a16:creationId xmlns:a16="http://schemas.microsoft.com/office/drawing/2014/main" id="{843013A4-4703-9C8F-A0EF-823698FB87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3247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795462" y="2728019"/>
            <a:ext cx="8601075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Consolidación</a:t>
            </a:r>
            <a:r>
              <a:rPr lang="en-US" sz="42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42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Ecosistema</a:t>
            </a:r>
            <a:r>
              <a:rPr lang="en-US" sz="42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2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emprendedor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90740"/>
            <a:ext cx="5334000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90740"/>
            <a:ext cx="5334000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962025" y="1881265"/>
            <a:ext cx="478059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Desafío Inicial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962025" y="2367040"/>
            <a:ext cx="4552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Datos no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estructurados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advertencias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tipo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mixto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memoria (mixed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dtypes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), y comas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adicionales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archivos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planos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impedían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directo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para la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analítica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avanzada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6677025" y="1881265"/>
            <a:ext cx="478059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Higiene de Datos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677025" y="2367040"/>
            <a:ext cx="4552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 implementó un motor inteligente de lectura con exclusión de líneas corruptas, normalización de nulos y refactorización estructural para estabilizar el dataset de origen.</a:t>
            </a:r>
            <a:endParaRPr/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192889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192889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El Reto de la Fragmentación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B6C8279-EB85-B335-C087-242E94A4A7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890" y="3948190"/>
            <a:ext cx="5687219" cy="18100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571500" y="571500"/>
            <a:ext cx="56007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Arquitectura Híbrida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1400175"/>
            <a:ext cx="56007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Integridad y Escalabilidad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2066925"/>
            <a:ext cx="421036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Utilizamos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SQLite para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almacenar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más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28,000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registros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transaccionales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históricos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forma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eficiente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simulando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entorno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producción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real.</a:t>
            </a: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3093541"/>
            <a:ext cx="421036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través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Pandas de Python,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cargamos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maestro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estructurado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ejecutamos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cruce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masivo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(Merge/Join) para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unificar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historia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del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emprendedor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092F99A-2647-011D-7380-8E0659CFC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419" y="1400175"/>
            <a:ext cx="6944694" cy="34294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/>
        </p:nvSpPr>
        <p:spPr>
          <a:xfrm>
            <a:off x="571500" y="2747962"/>
            <a:ext cx="533400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33,441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571500" y="3890962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Registros Consolidados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6286500" y="2388202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Detección de Oportunidades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6286500" y="2940652"/>
            <a:ext cx="5334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unificar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las bases de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perfiles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actividades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detectamos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precisión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5,060 </a:t>
            </a:r>
            <a:r>
              <a:rPr lang="en-US" sz="12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ciudadanos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registrados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están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inactivos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sin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interacciones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reales.</a:t>
            </a:r>
            <a:endParaRPr dirty="0"/>
          </a:p>
        </p:txBody>
      </p:sp>
      <p:sp>
        <p:nvSpPr>
          <p:cNvPr id="116" name="Google Shape;116;p16"/>
          <p:cNvSpPr txBox="1"/>
          <p:nvPr/>
        </p:nvSpPr>
        <p:spPr>
          <a:xfrm>
            <a:off x="6286500" y="3778852"/>
            <a:ext cx="533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Esto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representa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ventana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reactivación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directa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permitiendo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diseñar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campañas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públicas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altamente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enfocadas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 de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bajísimo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costo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dinamizar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economía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local.</a:t>
            </a:r>
            <a:endParaRPr dirty="0"/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Universo de Información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/>
        </p:nvSpPr>
        <p:spPr>
          <a:xfrm>
            <a:off x="1123950" y="5942117"/>
            <a:ext cx="9944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 dirty="0">
                <a:solidFill>
                  <a:srgbClr val="334155"/>
                </a:solidFill>
                <a:latin typeface="Inter"/>
                <a:ea typeface="Inter"/>
                <a:sym typeface="Inter"/>
              </a:rPr>
              <a:t>Estado actual de </a:t>
            </a:r>
            <a:r>
              <a:rPr lang="en-US" sz="1200" i="1" dirty="0" err="1">
                <a:solidFill>
                  <a:srgbClr val="334155"/>
                </a:solidFill>
                <a:latin typeface="Inter"/>
                <a:ea typeface="Inter"/>
                <a:sym typeface="Inter"/>
              </a:rPr>
              <a:t>los</a:t>
            </a:r>
            <a:r>
              <a:rPr lang="en-US" sz="1200" i="1" dirty="0">
                <a:solidFill>
                  <a:srgbClr val="334155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200" i="1" dirty="0" err="1">
                <a:solidFill>
                  <a:srgbClr val="334155"/>
                </a:solidFill>
                <a:latin typeface="Inter"/>
                <a:ea typeface="Inter"/>
                <a:sym typeface="Inter"/>
              </a:rPr>
              <a:t>emprendimientos</a:t>
            </a:r>
            <a:r>
              <a:rPr lang="en-US" sz="1200" i="1" dirty="0">
                <a:solidFill>
                  <a:srgbClr val="334155"/>
                </a:solidFill>
                <a:latin typeface="Inter"/>
                <a:ea typeface="Inter"/>
                <a:sym typeface="Inter"/>
              </a:rPr>
              <a:t> de la </a:t>
            </a:r>
            <a:r>
              <a:rPr lang="en-US" sz="1200" i="1" dirty="0" err="1">
                <a:solidFill>
                  <a:srgbClr val="334155"/>
                </a:solidFill>
                <a:latin typeface="Inter"/>
                <a:ea typeface="Inter"/>
                <a:sym typeface="Inter"/>
              </a:rPr>
              <a:t>muestra</a:t>
            </a:r>
            <a:endParaRPr dirty="0"/>
          </a:p>
        </p:txBody>
      </p:sp>
      <p:sp>
        <p:nvSpPr>
          <p:cNvPr id="124" name="Google Shape;124;p17"/>
          <p:cNvSpPr txBox="1"/>
          <p:nvPr/>
        </p:nvSpPr>
        <p:spPr>
          <a:xfrm>
            <a:off x="571500" y="571500"/>
            <a:ext cx="116014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5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Análisis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Estado del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participante</a:t>
            </a:r>
            <a:r>
              <a:rPr lang="en-US" sz="285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850" b="1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pygwalker</a:t>
            </a:r>
            <a:r>
              <a:rPr lang="en-US" sz="285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4A0F60-B648-7F00-56F9-166155F01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8626" y="1448021"/>
            <a:ext cx="3111032" cy="40561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5F06B556-B3BD-4463-9C70-2B8632F0E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>
            <a:extLst>
              <a:ext uri="{FF2B5EF4-FFF2-40B4-BE49-F238E27FC236}">
                <a16:creationId xmlns:a16="http://schemas.microsoft.com/office/drawing/2014/main" id="{11D8F6BC-C8E2-0334-CCD3-6E7990A6E211}"/>
              </a:ext>
            </a:extLst>
          </p:cNvPr>
          <p:cNvSpPr txBox="1"/>
          <p:nvPr/>
        </p:nvSpPr>
        <p:spPr>
          <a:xfrm>
            <a:off x="1123950" y="5942117"/>
            <a:ext cx="9944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análisis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muestra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fuerte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concentracion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la población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concurre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al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centro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emprendimiento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2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parroquiasde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 ciudad</a:t>
            </a:r>
            <a:endParaRPr dirty="0"/>
          </a:p>
        </p:txBody>
      </p:sp>
      <p:sp>
        <p:nvSpPr>
          <p:cNvPr id="124" name="Google Shape;124;p17">
            <a:extLst>
              <a:ext uri="{FF2B5EF4-FFF2-40B4-BE49-F238E27FC236}">
                <a16:creationId xmlns:a16="http://schemas.microsoft.com/office/drawing/2014/main" id="{FC1B977C-53C0-7798-EB52-FD5BEBF87832}"/>
              </a:ext>
            </a:extLst>
          </p:cNvPr>
          <p:cNvSpPr txBox="1"/>
          <p:nvPr/>
        </p:nvSpPr>
        <p:spPr>
          <a:xfrm>
            <a:off x="571500" y="571500"/>
            <a:ext cx="116014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5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Análisis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Territorial de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Densidad</a:t>
            </a:r>
            <a:r>
              <a:rPr lang="en-US" sz="285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(matplotlib)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AA232E3-1A07-242B-5ECF-A078173A7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073" y="1309391"/>
            <a:ext cx="8449854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099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F7DD799D-C4E1-A636-8F95-354573BD4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>
            <a:extLst>
              <a:ext uri="{FF2B5EF4-FFF2-40B4-BE49-F238E27FC236}">
                <a16:creationId xmlns:a16="http://schemas.microsoft.com/office/drawing/2014/main" id="{5C9A83AD-3E89-7EC1-65A6-70A44FB40DA6}"/>
              </a:ext>
            </a:extLst>
          </p:cNvPr>
          <p:cNvSpPr txBox="1"/>
          <p:nvPr/>
        </p:nvSpPr>
        <p:spPr>
          <a:xfrm>
            <a:off x="1123950" y="5942117"/>
            <a:ext cx="9944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análisis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muestra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estado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la Asistencia a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20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eventos</a:t>
            </a:r>
            <a:endParaRPr dirty="0"/>
          </a:p>
        </p:txBody>
      </p:sp>
      <p:sp>
        <p:nvSpPr>
          <p:cNvPr id="124" name="Google Shape;124;p17">
            <a:extLst>
              <a:ext uri="{FF2B5EF4-FFF2-40B4-BE49-F238E27FC236}">
                <a16:creationId xmlns:a16="http://schemas.microsoft.com/office/drawing/2014/main" id="{9DB72562-04AC-D00B-FC66-D755B6F1CF39}"/>
              </a:ext>
            </a:extLst>
          </p:cNvPr>
          <p:cNvSpPr txBox="1"/>
          <p:nvPr/>
        </p:nvSpPr>
        <p:spPr>
          <a:xfrm>
            <a:off x="571500" y="571500"/>
            <a:ext cx="116014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5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Análisis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5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 Asistencia (bokeh)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39CA331-BF3C-0292-08AA-A0C539AC3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390" y="1214128"/>
            <a:ext cx="6049219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65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/>
        </p:nvSpPr>
        <p:spPr>
          <a:xfrm>
            <a:off x="571500" y="571500"/>
            <a:ext cx="116014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Conclusiones</a:t>
            </a: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8D008FC-C30C-6646-34E2-E66703F1E6CC}"/>
              </a:ext>
            </a:extLst>
          </p:cNvPr>
          <p:cNvSpPr txBox="1"/>
          <p:nvPr/>
        </p:nvSpPr>
        <p:spPr>
          <a:xfrm>
            <a:off x="1967459" y="1773385"/>
            <a:ext cx="837575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000" b="1" dirty="0"/>
              <a:t>Eficiencia de Recursos:</a:t>
            </a:r>
            <a:r>
              <a:rPr lang="es-MX" sz="2000" dirty="0"/>
              <a:t> Reducción de costos de </a:t>
            </a:r>
            <a:r>
              <a:rPr lang="es-MX" sz="2000" dirty="0" err="1"/>
              <a:t>adquisiciónen</a:t>
            </a:r>
            <a:r>
              <a:rPr lang="es-MX" sz="2000" dirty="0"/>
              <a:t> herramientas de analítica, aprovechando las ventajas </a:t>
            </a:r>
            <a:r>
              <a:rPr lang="es-MX" sz="2000" dirty="0" err="1"/>
              <a:t>ofrecidad</a:t>
            </a:r>
            <a:r>
              <a:rPr lang="es-MX" sz="2000" dirty="0"/>
              <a:t> por las diferentes librerías disponibles.</a:t>
            </a:r>
          </a:p>
          <a:p>
            <a:pPr>
              <a:buNone/>
            </a:pPr>
            <a:endParaRPr lang="es-MX" sz="2000" dirty="0"/>
          </a:p>
          <a:p>
            <a:pPr>
              <a:buNone/>
            </a:pPr>
            <a:r>
              <a:rPr lang="es-MX" sz="2000" b="1" dirty="0"/>
              <a:t>Resultados para la toma de decisiones:</a:t>
            </a:r>
            <a:r>
              <a:rPr lang="es-MX" sz="2000" dirty="0"/>
              <a:t> Datos analizados </a:t>
            </a:r>
            <a:r>
              <a:rPr lang="es-MX" sz="2000" dirty="0" err="1"/>
              <a:t>serviran</a:t>
            </a:r>
            <a:r>
              <a:rPr lang="es-MX" sz="2000" dirty="0"/>
              <a:t> para planificar nuevos servicios, enfocar mejor los recursos y mejorar las prestaciones ofrecidas.</a:t>
            </a:r>
          </a:p>
          <a:p>
            <a:pPr>
              <a:buNone/>
            </a:pPr>
            <a:endParaRPr lang="es-MX" sz="2000" dirty="0"/>
          </a:p>
          <a:p>
            <a:pPr>
              <a:buNone/>
            </a:pPr>
            <a:r>
              <a:rPr lang="es-MX" sz="2000" b="1" dirty="0"/>
              <a:t>Evolución:</a:t>
            </a:r>
            <a:r>
              <a:rPr lang="es-MX" sz="2000" dirty="0"/>
              <a:t> El </a:t>
            </a:r>
            <a:r>
              <a:rPr lang="es-MX" sz="2000" dirty="0" err="1"/>
              <a:t>dataset</a:t>
            </a:r>
            <a:r>
              <a:rPr lang="es-MX" sz="2000" dirty="0"/>
              <a:t> consolidado puede crecer al integrarse con otros conjuntos de datos que permitan realizar análisis en otros ejes.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310</Words>
  <Application>Microsoft Office PowerPoint</Application>
  <PresentationFormat>Panorámica</PresentationFormat>
  <Paragraphs>28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Poppins SemiBold</vt:lpstr>
      <vt:lpstr>Calibri</vt:lpstr>
      <vt:lpstr>Inter SemiBold</vt:lpstr>
      <vt:lpstr>Arial</vt:lpstr>
      <vt:lpstr>Inter</vt:lpstr>
      <vt:lpstr>Poppins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Mauricio Xavier Becerra Estrella</cp:lastModifiedBy>
  <cp:revision>2</cp:revision>
  <dcterms:modified xsi:type="dcterms:W3CDTF">2026-05-30T00:17:24Z</dcterms:modified>
</cp:coreProperties>
</file>